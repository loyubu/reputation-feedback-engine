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review, not an approved build. Four questions still go to the group — they are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is emphatic on this: every review goes through a human first, and no reply is auto-sent.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route and the override are the two most commonly missed requirements in this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 is established on the way in. It is the hinge the whole repeat-customer rule hangs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Basic LLM Chain with a structured output parser — not an Agent. One classification call; an Agent would add nondeterminism to a demo that must behave identically three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all four populated on the dashboard during the demo — that is what proves the paths behave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is the part a reviewer will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these explicitly with the group. If they disagree, the change is one line in the Code node — but only before it is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$5 of Claude credit covers development, testing and the live demo. Everything else is free on the chosen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these four away, come back with answers, and the build order follows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B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DESIGN REVIEW  ·  NOT YET APPROVED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&amp; Feedback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Engine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3749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completed visit becomes scored feedback, routed four ways, with a draft reply waiting and a manager alerted when it matters.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" y="4800600"/>
            <a:ext cx="274320" cy="274320"/>
          </a:xfrm>
          <a:prstGeom prst="rect">
            <a:avLst/>
          </a:prstGeom>
          <a:solidFill>
            <a:srgbClr val="1C7A4D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4800600"/>
            <a:ext cx="274320" cy="274320"/>
          </a:xfrm>
          <a:prstGeom prst="rect">
            <a:avLst/>
          </a:prstGeom>
          <a:solidFill>
            <a:srgbClr val="A96410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4800600"/>
            <a:ext cx="274320" cy="274320"/>
          </a:xfrm>
          <a:prstGeom prst="rect">
            <a:avLst/>
          </a:prstGeom>
          <a:solidFill>
            <a:srgbClr val="B02A21"/>
          </a:solidFill>
          <a:ln/>
        </p:spPr>
      </p:sp>
      <p:sp>
        <p:nvSpPr>
          <p:cNvPr id="8" name="Shape 6"/>
          <p:cNvSpPr/>
          <p:nvPr/>
        </p:nvSpPr>
        <p:spPr>
          <a:xfrm>
            <a:off x="1673352" y="4800600"/>
            <a:ext cx="274320" cy="274320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" y="5230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routes · one dashboard · nothing published or sent without a human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September 2026     ·     Built on n8n     ·     Group work     ·     Source: Capstone Project Information.txt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problems, one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actually said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1965960"/>
          </a:xfrm>
          <a:prstGeom prst="roundRect">
            <a:avLst>
              <a:gd name="adj" fmla="val 1860"/>
            </a:avLst>
          </a:prstGeom>
          <a:solidFill>
            <a:srgbClr val="F5F6F8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reviews arrive before we do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67712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after a visit depends on whoever is at the front desk that day. The first anyone hears of a problem is a public review — by which point it is already public.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1860"/>
            </a:avLst>
          </a:prstGeom>
          <a:solidFill>
            <a:srgbClr val="F5F6F8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4808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complaint treated the same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267712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mild grumble about a delay and a furious complaint about a botched job go into the same pile. Somebody reads them eventually and decides what to 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11018520" cy="1691640"/>
          </a:xfrm>
          <a:prstGeom prst="roundRect">
            <a:avLst>
              <a:gd name="adj" fmla="val 2162"/>
            </a:avLst>
          </a:prstGeom>
          <a:solidFill>
            <a:srgbClr val="23272E"/>
          </a:solidFill>
          <a:ln w="15875">
            <a:solidFill>
              <a:srgbClr val="232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87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standing rule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0857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published publicly by the system, and nothing is ever sent to a customer by the system. A human does both. The system's job is to notice, score, route and prepare — never to act on the customer's behalf.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constraint the whole design is built around.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in the brief that are easy to miss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changes what gets built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2044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47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78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routes, not three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012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lists three. Point 8 adds a fourth: anything the system cannot confidently score is flagged for a human rather than guessed 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645920"/>
            <a:ext cx="352044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847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6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78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numbers, not one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31012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positive or negative it is, and how severe.” Different axes. Collapsing them is exactly the flattening the brief objects 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37576" y="1645920"/>
            <a:ext cx="352044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847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11896" y="25786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is an override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331012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“Regardless of how mild this message reads.” History does not nudge the score — it bypasses the severity threshold entirely.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third one wrong and the repeat-customer demo case stops looking different from the ordinary negative case.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— a completed visit asks for feedback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simple. The brief asks only for a reliable trigger.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011680" cy="1783080"/>
          </a:xfrm>
          <a:prstGeom prst="roundRect">
            <a:avLst>
              <a:gd name="adj" fmla="val 2051"/>
            </a:avLst>
          </a:prstGeom>
          <a:solidFill>
            <a:srgbClr val="23272E"/>
          </a:solidFill>
          <a:ln w="15875">
            <a:solidFill>
              <a:srgbClr val="232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B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Complete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16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standing in for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shop's job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51176" y="2852928"/>
            <a:ext cx="210312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8064" y="1965960"/>
            <a:ext cx="201168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DCE0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Upsert Customer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816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email →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852928"/>
            <a:ext cx="210312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93208" y="1965960"/>
            <a:ext cx="201168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088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Visit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816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visit_id · location_id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41464" y="2852928"/>
            <a:ext cx="210312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88352" y="1965960"/>
            <a:ext cx="201168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71232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Request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2816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built from the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base URL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36608" y="2852928"/>
            <a:ext cx="210312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83496" y="1965960"/>
            <a:ext cx="201168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66376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866376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Stamp sent_at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866376" y="281635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“sent, awaiting reply”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4224528"/>
            <a:ext cx="7498080" cy="1143000"/>
          </a:xfrm>
          <a:prstGeom prst="roundRect">
            <a:avLst>
              <a:gd name="adj" fmla="val 3200"/>
            </a:avLst>
          </a:prstGeom>
          <a:solidFill>
            <a:srgbClr val="F5F6F8"/>
          </a:solidFill>
          <a:ln w="25400">
            <a:solidFill>
              <a:srgbClr val="A9641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14600" y="43891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customer record comes before the visit record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47183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repeat-customer check later only works if the same person is recognisable across two visits. Get this wrong and Route C never fires, however correct the routing logic 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— the reply gets scored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lives in one Config node, so the rules are readable at a glance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664208" cy="1691640"/>
          </a:xfrm>
          <a:prstGeom prst="roundRect">
            <a:avLst>
              <a:gd name="adj" fmla="val 2198"/>
            </a:avLst>
          </a:prstGeom>
          <a:solidFill>
            <a:srgbClr val="23272E"/>
          </a:solidFill>
          <a:ln w="15875">
            <a:solidFill>
              <a:srgbClr val="232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2139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Reply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2688336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Form · free text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visit_id in the URL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03704" y="2743200"/>
            <a:ext cx="173736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14016" y="1920240"/>
            <a:ext cx="1664208" cy="16916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139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Context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688336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+ customer + location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if already scored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743200"/>
            <a:ext cx="173736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25112" y="1920240"/>
            <a:ext cx="1664208" cy="16916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31750">
            <a:solidFill>
              <a:srgbClr val="1417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20665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 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23225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the reply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2798064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−1…+1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0…5 · confidence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2743200"/>
            <a:ext cx="173736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36208" y="1920240"/>
            <a:ext cx="1664208" cy="16916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2139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gate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688336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score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36992" y="2743200"/>
            <a:ext cx="173736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47304" y="1920240"/>
            <a:ext cx="1664208" cy="16916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3608" y="2139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Check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88336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negative for this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customer? a DB query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48088" y="2743200"/>
            <a:ext cx="173736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0" y="1920240"/>
            <a:ext cx="1664208" cy="1691640"/>
          </a:xfrm>
          <a:prstGeom prst="roundRect">
            <a:avLst>
              <a:gd name="adj" fmla="val 2198"/>
            </a:avLst>
          </a:prstGeom>
          <a:solidFill>
            <a:srgbClr val="23272E"/>
          </a:solidFill>
          <a:ln w="15875">
            <a:solidFill>
              <a:srgbClr val="232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04704" y="2139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204704" y="2688336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node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route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57216" y="3611880"/>
            <a:ext cx="0" cy="914400"/>
          </a:xfrm>
          <a:prstGeom prst="line">
            <a:avLst/>
          </a:prstGeom>
          <a:noFill/>
          <a:ln w="20320">
            <a:solidFill>
              <a:srgbClr val="2F5D8C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68312" y="3611880"/>
            <a:ext cx="0" cy="914400"/>
          </a:xfrm>
          <a:prstGeom prst="line">
            <a:avLst/>
          </a:prstGeom>
          <a:noFill/>
          <a:ln w="20320">
            <a:solidFill>
              <a:srgbClr val="2F5D8C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377440" y="4553712"/>
            <a:ext cx="57607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2F5D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51760" y="47000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bypass — Route D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50109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failed, malformed output, below the confidence floor, or not really feedback → straight to a human. Nothing guessed, nothing routed.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node decides the route; a single Switch acts on it — the whole decision in one readable place.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routes, four different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depends on the score and the customer's history — never on a keyword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84048" y="1691640"/>
            <a:ext cx="2697480" cy="841248"/>
          </a:xfrm>
          <a:prstGeom prst="roundRect">
            <a:avLst>
              <a:gd name="adj" fmla="val 4348"/>
            </a:avLst>
          </a:prstGeom>
          <a:solidFill>
            <a:srgbClr val="1C7A4D"/>
          </a:solidFill>
          <a:ln w="15875">
            <a:solidFill>
              <a:srgbClr val="1C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819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066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2761488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Ready-to-post queue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3191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for a human to open,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copy out later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28216" y="2560320"/>
            <a:ext cx="0" cy="164592"/>
          </a:xfrm>
          <a:prstGeom prst="line">
            <a:avLst/>
          </a:prstGeom>
          <a:noFill/>
          <a:ln w="20320">
            <a:solidFill>
              <a:srgbClr val="1C7A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73552" y="1691640"/>
            <a:ext cx="2697480" cy="841248"/>
          </a:xfrm>
          <a:prstGeom prst="roundRect">
            <a:avLst>
              <a:gd name="adj" fmla="val 4348"/>
            </a:avLst>
          </a:prstGeom>
          <a:solidFill>
            <a:srgbClr val="A96410"/>
          </a:solidFill>
          <a:ln w="15875">
            <a:solidFill>
              <a:srgbClr val="A964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819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066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· mild · first time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73552" y="2761488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A9641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queue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191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handles it in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0" cy="164592"/>
          </a:xfrm>
          <a:prstGeom prst="line">
            <a:avLst/>
          </a:prstGeom>
          <a:noFill/>
          <a:ln w="20320">
            <a:solidFill>
              <a:srgbClr val="A9641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73552" y="3877056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A9641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response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4306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 2 · status pending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675888"/>
            <a:ext cx="0" cy="164592"/>
          </a:xfrm>
          <a:prstGeom prst="line">
            <a:avLst/>
          </a:prstGeom>
          <a:noFill/>
          <a:ln w="20320">
            <a:solidFill>
              <a:srgbClr val="A9641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63056" y="1691640"/>
            <a:ext cx="2697480" cy="841248"/>
          </a:xfrm>
          <a:prstGeom prst="roundRect">
            <a:avLst>
              <a:gd name="adj" fmla="val 4348"/>
            </a:avLst>
          </a:prstGeom>
          <a:solidFill>
            <a:srgbClr val="B02A21"/>
          </a:solidFill>
          <a:ln w="15875">
            <a:solidFill>
              <a:srgbClr val="B02A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4224" y="1819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2066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· severe or repeat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63056" y="2761488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02A2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4224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queue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64224" y="3191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pointed toward 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07224" y="2560320"/>
            <a:ext cx="0" cy="164592"/>
          </a:xfrm>
          <a:prstGeom prst="line">
            <a:avLst/>
          </a:prstGeom>
          <a:noFill/>
          <a:ln w="20320">
            <a:solidFill>
              <a:srgbClr val="B02A2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63056" y="3877056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02A2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4224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response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64224" y="4306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parallel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07224" y="3675888"/>
            <a:ext cx="0" cy="164592"/>
          </a:xfrm>
          <a:prstGeom prst="line">
            <a:avLst/>
          </a:prstGeom>
          <a:noFill/>
          <a:ln w="20320">
            <a:solidFill>
              <a:srgbClr val="B02A2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63056" y="4992624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B02A21"/>
          </a:solidFill>
          <a:ln w="19050">
            <a:solidFill>
              <a:srgbClr val="B02A2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64224" y="5120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a manager — now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5422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alert logged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07224" y="4791456"/>
            <a:ext cx="0" cy="164592"/>
          </a:xfrm>
          <a:prstGeom prst="line">
            <a:avLst/>
          </a:prstGeom>
          <a:noFill/>
          <a:ln w="20320">
            <a:solidFill>
              <a:srgbClr val="B02A2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052560" y="1691640"/>
            <a:ext cx="2697480" cy="841248"/>
          </a:xfrm>
          <a:prstGeom prst="roundRect">
            <a:avLst>
              <a:gd name="adj" fmla="val 4348"/>
            </a:avLst>
          </a:prstGeom>
          <a:solidFill>
            <a:srgbClr val="2F5D8C"/>
          </a:solidFill>
          <a:ln w="15875">
            <a:solidFill>
              <a:srgbClr val="2F5D8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53728" y="1819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253728" y="2066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score confidently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052560" y="2761488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F5D8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53728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queue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253728" y="3191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 human 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guessed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396728" y="2560320"/>
            <a:ext cx="0" cy="164592"/>
          </a:xfrm>
          <a:prstGeom prst="line">
            <a:avLst/>
          </a:prstGeom>
          <a:noFill/>
          <a:ln w="20320">
            <a:solidFill>
              <a:srgbClr val="2F5D8C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84048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is never published automatically. Routes B and C are never sent automatically. Both wait for a human.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logic — one Code node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matters. First match wins.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840480"/>
                <a:gridCol w="1737360"/>
                <a:gridCol w="5120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SITS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failed, or confidence &lt; 0.6, or not really 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first, so a broken score can never reach the rules below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polarity &lt; 0  AND  customer has a prior 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escalate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the severity test deliberately — this is the override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polarity &lt; 0  AND  severity ≥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escalate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alone is enough, no history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polarity &lt;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96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private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time, lower severity. Queued; a draft is still generated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polarity &gt;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ready to 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for a human to read and copy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left — neutral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is not positive, and Route A feeds something a human may publish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sits above rule 3 on purpose. Flip them and a mild repeat complaint gets severity-tested first, lands in the ordinary queue, and the third demo case stops behaving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calls worth challenging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judgement calls, not requirements — easier to change before we build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25400">
            <a:solidFill>
              <a:srgbClr val="B02A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2 above rule 3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says escalate a repeat complainer “regardless of how mild this particular message reads”. Taken literally, history has to be tested before severity.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Agreed, or should severity win first?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25400">
            <a:solidFill>
              <a:srgbClr val="2F5D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goes to review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5059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car's ready then?” is not a glowing review, and Route A feeds something a human may publish. So neutral is sent for a human look rather than into the positive queue.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160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cautious, or right?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the design is a direct reading of the brief. These two are ours.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not what should decide this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0241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60" kern="0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checked 22 September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6040" cy="1920240"/>
          </a:xfrm>
          <a:prstGeom prst="roundRect">
            <a:avLst>
              <a:gd name="adj" fmla="val 1905"/>
            </a:avLst>
          </a:prstGeom>
          <a:solidFill>
            <a:srgbClr val="F5F6F8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~2¢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piece of feedback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(two model calls on a negative)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1691640"/>
            <a:ext cx="2606040" cy="1920240"/>
          </a:xfrm>
          <a:prstGeom prst="roundRect">
            <a:avLst>
              <a:gd name="adj" fmla="val 1905"/>
            </a:avLst>
          </a:prstGeom>
          <a:solidFill>
            <a:srgbClr val="F5F6F8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build —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the minimum top-up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35624" y="1691640"/>
            <a:ext cx="2606040" cy="1920240"/>
          </a:xfrm>
          <a:prstGeom prst="roundRect">
            <a:avLst>
              <a:gd name="adj" fmla="val 1905"/>
            </a:avLst>
          </a:prstGeom>
          <a:solidFill>
            <a:srgbClr val="F5F6F8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on Oracle, domain,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hosting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51976" y="1691640"/>
            <a:ext cx="2606040" cy="1920240"/>
          </a:xfrm>
          <a:prstGeom prst="roundRect">
            <a:avLst>
              <a:gd name="adj" fmla="val 1905"/>
            </a:avLst>
          </a:prstGeom>
          <a:solidFill>
            <a:srgbClr val="F5F6F8"/>
          </a:solidFill>
          <a:ln w="25400">
            <a:solidFill>
              <a:srgbClr val="B02A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n8n Cloud trial —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constraint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534924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B02A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deadline, not the bill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1655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day one, not day thirteen: finish inside 14 days and pay nothing; overrun and pay €24 for one month; or migrate to Oracle early and absorb that work mid-project.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C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gotchas that outrank the money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434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projects pause after a week idle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Airtable's free plan allows exactly one interface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$5 of Claude credit covers development, testing and the live demo. Every other component on the chosen path is free.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for the group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stable enough to build against. These four are the blockers.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Datastore + dashboard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06654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+ Interface Designer  ·  Supabase + custom dashboard  ·  Supabase + hosted page  ·  Sheets + Looker Studio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96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62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and reply channel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9260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Form link (recommended)  ·  email out and reply in  ·  Telegram bot  ·  simulated webhook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alert channel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78561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·  email  ·  Slack  ·  both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681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“Ready to post” content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6451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raw words, or a lightly polished review drafted from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" y="5943600"/>
            <a:ext cx="274320" cy="274320"/>
          </a:xfrm>
          <a:prstGeom prst="rect">
            <a:avLst/>
          </a:prstGeom>
          <a:solidFill>
            <a:srgbClr val="1C7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" y="5943600"/>
            <a:ext cx="274320" cy="274320"/>
          </a:xfrm>
          <a:prstGeom prst="rect">
            <a:avLst/>
          </a:prstGeom>
          <a:solidFill>
            <a:srgbClr val="A9641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89304" y="5943600"/>
            <a:ext cx="274320" cy="274320"/>
          </a:xfrm>
          <a:prstGeom prst="rect">
            <a:avLst/>
          </a:prstGeom>
          <a:solidFill>
            <a:srgbClr val="B02A21"/>
          </a:solidFill>
          <a:ln/>
        </p:spPr>
      </p:sp>
      <p:sp>
        <p:nvSpPr>
          <p:cNvPr id="19" name="Shape 17"/>
          <p:cNvSpPr/>
          <p:nvPr/>
        </p:nvSpPr>
        <p:spPr>
          <a:xfrm>
            <a:off x="1673352" y="5943600"/>
            <a:ext cx="274320" cy="274320"/>
          </a:xfrm>
          <a:prstGeom prst="rect">
            <a:avLst/>
          </a:prstGeom>
          <a:solidFill>
            <a:srgbClr val="2F5D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286000" y="5961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built until these are settled.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Reputation &amp; Feedback Intelligence Engine</dc:title>
  <dc:subject>PptxGenJS Presentation</dc:subject>
  <dc:creator>Capstone group</dc:creator>
  <cp:lastModifiedBy>Capstone group</cp:lastModifiedBy>
  <cp:revision>1</cp:revision>
  <dcterms:created xsi:type="dcterms:W3CDTF">2026-09-22T12:19:37Z</dcterms:created>
  <dcterms:modified xsi:type="dcterms:W3CDTF">2026-09-22T12:19:37Z</dcterms:modified>
</cp:coreProperties>
</file>